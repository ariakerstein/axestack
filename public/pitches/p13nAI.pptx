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loom.com/share/365b963e781e485d90a700709c54147c"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Your oncologist is not enough.</a:t>
            </a:r>
            <a:endParaRPr lang="en-US" sz="28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Turn cancer records into clear next steps.</a:t>
            </a:r>
            <a:endParaRPr lang="en-US" sz="1400" dirty="0"/>
          </a:p>
        </p:txBody>
      </p:sp>
      <p:sp>
        <p:nvSpPr>
          <p:cNvPr id="4"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THE PROBLEM</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15 minutes with your oncologist.24/7 with your fear.</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Built for averages. Not personalized to you.</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 ×</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Records fragmented across systems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Guidance inconsistent between providers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When decisions break, spend flows through confusion.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"Here are 47 PDFs, 3 specialists, and a terrified family. Figure it out."</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WHY NOW</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Your diagnosis came Tuesday.</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Your oncologist has an opening in 3 weeks.</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2057400"/>
                <a:gridCol w="2057400"/>
                <a:gridCol w="2057400"/>
                <a:gridCol w="2057400"/>
              </a:tblGrid>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2am Google</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Terrified. Searching.</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Reddit rabbit holes</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Anecdotes, not answers.</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ChatGPT</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No records. No context.</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Waiting. Alone.</a:t>
                      </a:r>
                      <a:endParaRPr lang="en-US" sz="1000" dirty="0">
                        <a:latin typeface="Arial" charset="0"/>
                        <a:ea typeface="Arial" charset="0"/>
                        <a:cs typeface="Arial" charset="0"/>
                      </a:endParaRPr>
                    </a:p>
                    <a:p>
                      <a:pPr indent="0" marL="0">
                        <a:buNone/>
                      </a:pPr>
                      <a:r>
                        <a:rPr lang="en-US" sz="1000" dirty="0">
                          <a:solidFill>
                            <a:srgbClr val="FFFFFF"/>
                          </a:solidFill>
                          <a:latin typeface="Arial" pitchFamily="34" charset="0"/>
                          <a:ea typeface="Arial" pitchFamily="34" charset="-122"/>
                          <a:cs typeface="Arial" pitchFamily="34" charset="-120"/>
                        </a:rPr>
                        <a:t>Making decisions in fear.</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bl>
          </a:graphicData>
        </a:graphic>
      </p:graphicFrame>
      <p:sp>
        <p:nvSpPr>
          <p:cNvPr id="6"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THE SOLUTION</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Turn cancer records into clear next steps.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 Secure patient vault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Plain-English, evidence-grounded summaries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Gaps, red flags, and questions to ask</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Human escalation when needed</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WHY WE WIN</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Navis becomes the patient platform for cancer.</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Trust becomes infrastructure.</a:t>
            </a:r>
            <a:endParaRPr lang="en-US" sz="1400" dirty="0"/>
          </a:p>
        </p:txBody>
      </p:sp>
      <p:sp>
        <p:nvSpPr>
          <p:cNvPr id="5"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GO-TO-MARKET</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Cancer care is multi-player.</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Efficient adoption. Validate monetization.</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Patient Growth</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Communities: trusted cohorts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Sharing: patients have multiple caregivers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Caregivers drive referrals + repeat usage</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BEAFE"/>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Validate Monetization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2–4 pilots (LOIs)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Paid workflows + referrals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Prove WTP + partner ROI</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r>
            </a:tbl>
          </a:graphicData>
        </a:graphic>
      </p:graphicFrame>
      <p:sp>
        <p:nvSpPr>
          <p:cNvPr id="6"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BUSINESS MODEL</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One model: patient-owned care routing.</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Patients pay for workflows. Partners pay for qualified, consented referrals.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Primary</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Paid workflows + task completion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$29/mo (launch)</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Expansion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Diagnostics • 2nd opinions • trials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$150–$500+ per qualified referral</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MARKET</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Cancer is one of the largest consumer healthcare spend funnels.</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Money already flows through:</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Diagnostics / Testing</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Genomic testing, liquid biopsy, advanced imaging</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$500–$5,000</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BEAFE"/>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Second Opinions / COE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Expert review, center of excellence referrals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$300–$1,500</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Trials / Navigation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Trial matching • patient navigation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Partner-paid referrals: $150–$500+</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2743200"/>
            <a:ext cx="8229600" cy="457200"/>
          </a:xfrm>
          <a:prstGeom prst="rect">
            <a:avLst/>
          </a:prstGeom>
          <a:solidFill>
            <a:srgbClr val="1E293B"/>
          </a:solid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Navis captures routing economics above every transaction.</a:t>
            </a:r>
            <a:endParaRPr lang="en-US" sz="1200" dirty="0"/>
          </a:p>
        </p:txBody>
      </p:sp>
      <p:sp>
        <p:nvSpPr>
          <p:cNvPr id="7" name="Text 4"/>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PROGRESS</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Early signals of pull</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"I use Navis almost daily to sift through all my information."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Brian K., pancreatic cancer</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200" dirty="0"/>
                    </a:p>
                  </a:txBody>
                  <a:tcPr marL="91440" marR="91440" marT="91440" marB="9144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COMPETITIVE LANDSCAPE</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Only Navis Covers the Full Patient Journey</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New layer → new category → platform economics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1645920"/>
                <a:gridCol w="1645920"/>
                <a:gridCol w="1645920"/>
                <a:gridCol w="1645920"/>
                <a:gridCol w="1645920"/>
              </a:tblGrid>
              <a:tr h="0">
                <a:tc>
                  <a:txBody>
                    <a:bodyPr/>
                    <a:lstStyle/>
                    <a:p>
                      <a:pPr indent="0" marL="0">
                        <a:buNone/>
                      </a:pPr>
                      <a:r>
                        <a:rPr lang="en-US" sz="1000" b="1" dirty="0">
                          <a:solidFill>
                            <a:srgbClr val="1E293B"/>
                          </a:solidFill>
                          <a:latin typeface="Arial" pitchFamily="34" charset="0"/>
                          <a:ea typeface="Arial" pitchFamily="34" charset="-122"/>
                          <a:cs typeface="Arial" pitchFamily="34" charset="-120"/>
                        </a:rPr>
                        <a:t>Patient Need</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b="1" dirty="0">
                          <a:solidFill>
                            <a:srgbClr val="1E293B"/>
                          </a:solidFill>
                          <a:latin typeface="Arial" pitchFamily="34" charset="0"/>
                          <a:ea typeface="Arial" pitchFamily="34" charset="-122"/>
                          <a:cs typeface="Arial" pitchFamily="34" charset="-120"/>
                        </a:rPr>
                        <a:t>Top CancerCenters (COEs)</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b="1" dirty="0">
                          <a:solidFill>
                            <a:srgbClr val="1E293B"/>
                          </a:solidFill>
                          <a:latin typeface="Arial" pitchFamily="34" charset="0"/>
                          <a:ea typeface="Arial" pitchFamily="34" charset="-122"/>
                          <a:cs typeface="Arial" pitchFamily="34" charset="-120"/>
                        </a:rPr>
                        <a:t>MyChart/Epic</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b="1" dirty="0">
                          <a:solidFill>
                            <a:srgbClr val="1E293B"/>
                          </a:solidFill>
                          <a:latin typeface="Arial" pitchFamily="34" charset="0"/>
                          <a:ea typeface="Arial" pitchFamily="34" charset="-122"/>
                          <a:cs typeface="Arial" pitchFamily="34" charset="-120"/>
                        </a:rPr>
                        <a:t>ChatGPT/Google</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b="1" dirty="0">
                          <a:solidFill>
                            <a:srgbClr val="047857"/>
                          </a:solidFill>
                          <a:latin typeface="Arial" pitchFamily="34" charset="0"/>
                          <a:ea typeface="Arial" pitchFamily="34" charset="-122"/>
                          <a:cs typeface="Arial" pitchFamily="34" charset="-120"/>
                        </a:rPr>
                        <a:t>Navis</a:t>
                      </a:r>
                      <a:endParaRPr lang="en-US" sz="10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Records (patient-owned vault)</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Guidance (evidence-grounded next steps)</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Care coordination (share + act)</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Support (caregivers + community)</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334155"/>
                          </a:solidFill>
                          <a:latin typeface="Arial" pitchFamily="34" charset="0"/>
                          <a:ea typeface="Arial" pitchFamily="34" charset="-122"/>
                          <a:cs typeface="Arial" pitchFamily="34" charset="-120"/>
                        </a:rPr>
                        <a:t>Services (routing/marketplace)</a:t>
                      </a: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00" dirty="0">
                        <a:latin typeface="Arial" charset="0"/>
                        <a:ea typeface="Arial" charset="0"/>
                        <a:cs typeface="Arial" charset="0"/>
                      </a:endParaRPr>
                    </a:p>
                  </a:txBody>
                  <a:tcPr marL="45720" marR="4572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TEAM</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Survivors × Product × Cancer Leaders</a:t>
            </a:r>
            <a:endParaRPr lang="en-US" sz="2800" dirty="0"/>
          </a:p>
        </p:txBody>
      </p:sp>
      <p:sp>
        <p:nvSpPr>
          <p:cNvPr id="4"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This round buys proof.</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Product pull</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5K+ MAU target</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Distribution pull</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50K+ partner reach target</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Economic pull</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5+ revenue-linked partners target</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Text 1"/>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Appendix</a:t>
            </a:r>
            <a:endParaRPr lang="en-US" sz="28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Additional context &amp; proof points</a:t>
            </a:r>
            <a:endParaRPr lang="en-US" sz="1400" dirty="0"/>
          </a:p>
        </p:txBody>
      </p:sp>
      <p:sp>
        <p:nvSpPr>
          <p:cNvPr id="4"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COMPETITIVE LANDSCAPE</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Where Patients Go for Trusted Answers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Patient Portals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Navis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r>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Search / Forums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Generic AI Chatbots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EDD5"/>
                    </a:solidFill>
                  </a:tcPr>
                </a:tc>
              </a:tr>
            </a:tbl>
          </a:graphicData>
        </a:graphic>
      </p:graphicFrame>
      <p:sp>
        <p:nvSpPr>
          <p:cNvPr id="5"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SOCIAL PROOF</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Patients Trust Navis</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Real feedback from cancer patients and advocates</a:t>
            </a:r>
            <a:endParaRPr lang="en-US" sz="1400" dirty="0"/>
          </a:p>
        </p:txBody>
      </p:sp>
      <p:sp>
        <p:nvSpPr>
          <p:cNvPr id="5" name="Text 3"/>
          <p:cNvSpPr/>
          <p:nvPr/>
        </p:nvSpPr>
        <p:spPr>
          <a:xfrm>
            <a:off x="457200" y="1737360"/>
            <a:ext cx="8229600" cy="457200"/>
          </a:xfrm>
          <a:prstGeom prst="rect">
            <a:avLst/>
          </a:prstGeom>
          <a:solidFill>
            <a:srgbClr val="1E293B"/>
          </a:solid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"YES YES YES!!!! From this day forward when someone wants to send me their records, I'm going to point them to navis, ask them to upload there and then invite me to their team."</a:t>
            </a:r>
            <a:endParaRPr lang="en-US" sz="1200" dirty="0"/>
          </a:p>
        </p:txBody>
      </p:sp>
      <p:sp>
        <p:nvSpPr>
          <p:cNvPr id="6" name="Text 4"/>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PRODUCT DEMO</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Live Today, Already in Patients' Hands</a:t>
            </a:r>
            <a:endParaRPr lang="en-US" sz="2800" dirty="0"/>
          </a:p>
        </p:txBody>
      </p:sp>
      <p:sp>
        <p:nvSpPr>
          <p:cNvPr id="4" name="Text 2"/>
          <p:cNvSpPr/>
          <p:nvPr/>
        </p:nvSpPr>
        <p:spPr>
          <a:xfrm>
            <a:off x="1371600" y="1828800"/>
            <a:ext cx="6400800" cy="457200"/>
          </a:xfrm>
          <a:prstGeom prst="rect">
            <a:avLst/>
          </a:prstGeom>
          <a:noFill/>
          <a:ln/>
        </p:spPr>
        <p:txBody>
          <a:bodyPr wrap="square" rtlCol="0" anchor="ctr"/>
          <a:lstStyle/>
          <a:p>
            <a:pPr algn="ctr" indent="0" marL="0">
              <a:buNone/>
            </a:pPr>
            <a:r>
              <a:rPr lang="en-US" sz="2000" b="1" dirty="0">
                <a:solidFill>
                  <a:srgbClr val="334155"/>
                </a:solidFill>
                <a:latin typeface="Arial" pitchFamily="34" charset="0"/>
                <a:ea typeface="Arial" pitchFamily="34" charset="-122"/>
                <a:cs typeface="Arial" pitchFamily="34" charset="-120"/>
              </a:rPr>
              <a:t>📹 VIDEO DEMO</a:t>
            </a:r>
            <a:endParaRPr lang="en-US" sz="2000" dirty="0"/>
          </a:p>
        </p:txBody>
      </p:sp>
      <p:sp>
        <p:nvSpPr>
          <p:cNvPr id="5" name="Text 3">
            <a:hlinkClick r:id="rId1" tooltip=""/>
          </p:cNvPr>
          <p:cNvSpPr/>
          <p:nvPr/>
        </p:nvSpPr>
        <p:spPr>
          <a:xfrm>
            <a:off x="1371600" y="2377440"/>
            <a:ext cx="6400800" cy="365760"/>
          </a:xfrm>
          <a:prstGeom prst="rect">
            <a:avLst/>
          </a:prstGeom>
          <a:noFill/>
          <a:ln/>
        </p:spPr>
        <p:txBody>
          <a:bodyPr wrap="square" rtlCol="0" anchor="ctr"/>
          <a:lstStyle/>
          <a:p>
            <a:pPr algn="ctr" indent="0" marL="0">
              <a:buNone/>
            </a:pPr>
            <a:r>
              <a:rPr lang="en-US" sz="1200" u="sng" dirty="0">
                <a:solidFill>
                  <a:srgbClr val="2563EB"/>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https://www.loom.com/share/365b963e781e485d90a700709c54147c</a:t>
            </a:r>
            <a:endParaRPr lang="en-US" sz="1200" dirty="0"/>
          </a:p>
        </p:txBody>
      </p:sp>
      <p:sp>
        <p:nvSpPr>
          <p:cNvPr id="6" name="Shape 4"/>
          <p:cNvSpPr/>
          <p:nvPr/>
        </p:nvSpPr>
        <p:spPr>
          <a:xfrm>
            <a:off x="1371600" y="1645920"/>
            <a:ext cx="6400800" cy="1371600"/>
          </a:xfrm>
          <a:prstGeom prst="rect">
            <a:avLst/>
          </a:prstGeom>
          <a:solidFill>
            <a:srgbClr val="F1F5F9"/>
          </a:solidFill>
          <a:ln w="12700">
            <a:solidFill>
              <a:srgbClr val="CBD5E1"/>
            </a:solidFill>
            <a:prstDash val="solid"/>
          </a:ln>
        </p:spPr>
      </p:sp>
      <p:sp>
        <p:nvSpPr>
          <p:cNvPr id="7" name="Text 5"/>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1 in 6 Patients Use AI for Medical Questions Monthly</a:t>
            </a:r>
            <a:endParaRPr lang="en-US" sz="28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Access is breaking down. Patients are finding alternatives.</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114800"/>
                <a:gridCol w="4114800"/>
              </a:tblGrid>
              <a:tr h="0">
                <a:tc>
                  <a:txBody>
                    <a:bodyPr/>
                    <a:lstStyle/>
                    <a:p>
                      <a:pPr indent="0" marL="0">
                        <a:buNone/>
                      </a:pP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77%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457200" y="237744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77%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68%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45%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21%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bl>
          </a:graphicData>
        </a:graphic>
      </p:graphicFrame>
      <p:sp>
        <p:nvSpPr>
          <p:cNvPr id="6"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Trusted Application Layer</a:t>
            </a:r>
            <a:endParaRPr lang="en-US" sz="28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Model-Agnostic &amp; Clinically Verified</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Dynamic Orchestration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Proprietary Evals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Clinical Grounding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57200" y="2377440"/>
          <a:ext cx="8229600" cy="914400"/>
        </p:xfrm>
        <a:graphic>
          <a:graphicData uri="http://schemas.openxmlformats.org/drawingml/2006/table">
            <a:tbl>
              <a:tblPr/>
              <a:tblGrid>
                <a:gridCol w="4114800"/>
                <a:gridCol w="4114800"/>
              </a:tblGrid>
              <a:tr h="0">
                <a:tc>
                  <a:txBody>
                    <a:bodyPr/>
                    <a:lstStyle/>
                    <a:p>
                      <a:pPr indent="0" marL="0">
                        <a:buNone/>
                      </a:pP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bl>
          </a:graphicData>
        </a:graphic>
      </p:graphicFrame>
      <p:sp>
        <p:nvSpPr>
          <p:cNvPr id="6" name="Text 2"/>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GO-TO-MARKET</a:t>
            </a:r>
            <a:endParaRPr lang="en-US" sz="10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Our GTM: Fast Path to $1M+ ARR</a:t>
            </a:r>
            <a:endParaRPr lang="en-US" sz="2800" dirty="0"/>
          </a:p>
        </p:txBody>
      </p:sp>
      <p:sp>
        <p:nvSpPr>
          <p:cNvPr id="4" name="Text 2"/>
          <p:cNvSpPr/>
          <p:nvPr/>
        </p:nvSpPr>
        <p:spPr>
          <a:xfrm>
            <a:off x="457200" y="1280160"/>
            <a:ext cx="8229600" cy="365760"/>
          </a:xfrm>
          <a:prstGeom prst="rect">
            <a:avLst/>
          </a:prstGeom>
          <a:noFill/>
          <a:ln/>
        </p:spPr>
        <p:txBody>
          <a:bodyPr wrap="square" rtlCol="0" anchor="ctr"/>
          <a:lstStyle/>
          <a:p>
            <a:pPr indent="0" marL="0">
              <a:buNone/>
            </a:pPr>
            <a:r>
              <a:rPr lang="en-US" sz="1400" dirty="0">
                <a:solidFill>
                  <a:srgbClr val="475569"/>
                </a:solidFill>
                <a:latin typeface="Arial" pitchFamily="34" charset="0"/>
                <a:ea typeface="Arial" pitchFamily="34" charset="-122"/>
                <a:cs typeface="Arial" pitchFamily="34" charset="-120"/>
              </a:rPr>
              <a:t>GTM Milestones | Early Signals</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8229600" cy="914400"/>
        </p:xfrm>
        <a:graphic>
          <a:graphicData uri="http://schemas.openxmlformats.org/drawingml/2006/table">
            <a:tbl>
              <a:tblPr/>
              <a:tblGrid>
                <a:gridCol w="4114800"/>
                <a:gridCol w="4114800"/>
              </a:tblGrid>
              <a:tr h="0">
                <a:tc>
                  <a:txBody>
                    <a:bodyPr/>
                    <a:lstStyle/>
                    <a:p>
                      <a:pPr indent="0" marL="0">
                        <a:buNone/>
                      </a:pPr>
                      <a:r>
                        <a:rPr lang="en-US" sz="1000" dirty="0">
                          <a:solidFill>
                            <a:srgbClr val="334155"/>
                          </a:solidFill>
                          <a:latin typeface="Arial" pitchFamily="34" charset="0"/>
                          <a:ea typeface="Arial" pitchFamily="34" charset="-122"/>
                          <a:cs typeface="Arial" pitchFamily="34" charset="-120"/>
                        </a:rPr>
                        <a:t>GTM Milestones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1</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Prove Patient Value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10K-15K registered, 5K+ MAU</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1</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2</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Prove Adoption</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50K+ patient access via partners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2</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3</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Prove Partner Value</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5-7 revenue-linked partners</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 $1M+ ARR line of sight</a:t>
                      </a:r>
                      <a:endParaRPr lang="en-US" sz="1000" dirty="0">
                        <a:latin typeface="Arial" charset="0"/>
                        <a:ea typeface="Arial" charset="0"/>
                        <a:cs typeface="Arial" charset="0"/>
                      </a:endParaRPr>
                    </a:p>
                    <a:p>
                      <a:pPr indent="0" marL="0">
                        <a:buNone/>
                      </a:pPr>
                      <a:r>
                        <a:rPr lang="en-US" sz="1000" dirty="0">
                          <a:solidFill>
                            <a:srgbClr val="334155"/>
                          </a:solidFill>
                          <a:latin typeface="Arial" pitchFamily="34" charset="0"/>
                          <a:ea typeface="Arial" pitchFamily="34" charset="-122"/>
                          <a:cs typeface="Arial" pitchFamily="34" charset="-120"/>
                        </a:rPr>
                        <a:t>• 3</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Arial" pitchFamily="34" charset="0"/>
                          <a:ea typeface="Arial" pitchFamily="34" charset="-122"/>
                          <a:cs typeface="Arial" pitchFamily="34" charset="-120"/>
                        </a:rPr>
                        <a:t>60%
</a:t>
                      </a:r>
                      <a:endParaRPr lang="en-US" sz="1000" dirty="0">
                        <a:latin typeface="Arial" charset="0"/>
                        <a:ea typeface="Arial" charset="0"/>
                        <a:cs typeface="Arial" charset="0"/>
                      </a:endParaRPr>
                    </a:p>
                  </a:txBody>
                  <a:tcPr marL="91440" marR="91440" marT="91440" marB="91440" anchor="t">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2743200"/>
            <a:ext cx="8229600" cy="457200"/>
          </a:xfrm>
          <a:prstGeom prst="rect">
            <a:avLst/>
          </a:prstGeom>
          <a:solidFill>
            <a:srgbClr val="1E293B"/>
          </a:solid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Real Patient Love</a:t>
            </a:r>
            <a:endParaRPr lang="en-US" sz="1200" dirty="0"/>
          </a:p>
        </p:txBody>
      </p:sp>
      <p:sp>
        <p:nvSpPr>
          <p:cNvPr id="7" name="Text 4"/>
          <p:cNvSpPr/>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Navis Health - Seed Deck v3</dc:title>
  <dc:subject>PptxGenJS Presentation</dc:subject>
  <dc:creator>Navis Health</dc:creator>
  <cp:lastModifiedBy>Navis Health</cp:lastModifiedBy>
  <cp:revision>1</cp:revision>
  <dcterms:created xsi:type="dcterms:W3CDTF">2026-01-06T16:53:10Z</dcterms:created>
  <dcterms:modified xsi:type="dcterms:W3CDTF">2026-01-06T16:53:10Z</dcterms:modified>
</cp:coreProperties>
</file>