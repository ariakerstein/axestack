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loom.com/share/365b963e781e485d90a700709c54147c"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loom.com/share/365b963e781e485d90a700709c54147c"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Trusted AI Home for Every Patient.</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Wedge: Oncology. The hardest disease becomes the entry point for all of healthcare.</a:t>
            </a:r>
            <a:endParaRPr lang="en-US" sz="1400" dirty="0"/>
          </a:p>
        </p:txBody>
      </p:sp>
      <p:sp>
        <p:nvSpPr>
          <p:cNvPr id="4"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$200B TRUST VACUUM</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The Record ≠ The Relationship.</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Epic owns 250M records, yet 85% of patients still miss clinical trials. Why?A portal is a destination for data, not a home for trust.</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MyChart solves for the system:</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250M</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records, yet patients still feel lost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85%</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of eligible patients never see a trial</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Source: NCI/FDA 2022</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40%</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of biomarker tests never completed</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Source: ASCO 2023</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Navis solves for the soul:</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Trust earns action — patients complete tests, enroll in trials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Relationship enables routing — consented intent at decision time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Daily habit builds moat — we ARE the conversation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"Pharma spends $10B+ on DTC ads hoping for a conversation. Navis IS the conversation."</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bl>
          </a:graphicData>
        </a:graphic>
      </p:graphicFrame>
      <p:sp>
        <p:nvSpPr>
          <p:cNvPr id="6" name="Text 3"/>
          <p:cNvSpPr/>
          <p:nvPr/>
        </p:nvSpPr>
        <p:spPr>
          <a:xfrm>
            <a:off x="457200" y="274320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Patients are pasting their most sensitive health data into ChatGPT. The relationship is vacant. Navis is moving in.</a:t>
            </a:r>
            <a:endParaRPr lang="en-US" sz="1200" dirty="0"/>
          </a:p>
        </p:txBody>
      </p:sp>
      <p:sp>
        <p:nvSpPr>
          <p:cNvPr id="7" name="Text 4"/>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SANCTUARY IN ACTION</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This is what "Trusted AI Home" looks like.</a:t>
            </a:r>
            <a:endParaRPr lang="en-US" sz="2800" dirty="0"/>
          </a:p>
        </p:txBody>
      </p:sp>
      <p:sp>
        <p:nvSpPr>
          <p:cNvPr id="4" name="Text 2"/>
          <p:cNvSpPr/>
          <p:nvPr/>
        </p:nvSpPr>
        <p:spPr>
          <a:xfrm>
            <a:off x="1371600" y="1828800"/>
            <a:ext cx="6400800" cy="457200"/>
          </a:xfrm>
          <a:prstGeom prst="rect">
            <a:avLst/>
          </a:prstGeom>
          <a:noFill/>
          <a:ln/>
        </p:spPr>
        <p:txBody>
          <a:bodyPr wrap="square" rtlCol="0" anchor="ctr"/>
          <a:lstStyle/>
          <a:p>
            <a:pPr algn="ctr" indent="0" marL="0">
              <a:buNone/>
            </a:pPr>
            <a:r>
              <a:rPr lang="en-US" sz="2000" b="1" dirty="0">
                <a:solidFill>
                  <a:srgbClr val="334155"/>
                </a:solidFill>
                <a:latin typeface="Arial" pitchFamily="34" charset="0"/>
                <a:ea typeface="Arial" pitchFamily="34" charset="-122"/>
                <a:cs typeface="Arial" pitchFamily="34" charset="-120"/>
              </a:rPr>
              <a:t>📹 VIDEO DEMO</a:t>
            </a:r>
            <a:endParaRPr lang="en-US" sz="2000" dirty="0"/>
          </a:p>
        </p:txBody>
      </p:sp>
      <p:sp>
        <p:nvSpPr>
          <p:cNvPr id="5" name="Text 3">
            <a:hlinkClick r:id="rId1" tooltip=""/>
          </p:cNvPr>
          <p:cNvSpPr/>
          <p:nvPr/>
        </p:nvSpPr>
        <p:spPr>
          <a:xfrm>
            <a:off x="1371600" y="2377440"/>
            <a:ext cx="6400800" cy="365760"/>
          </a:xfrm>
          <a:prstGeom prst="rect">
            <a:avLst/>
          </a:prstGeom>
          <a:noFill/>
          <a:ln/>
        </p:spPr>
        <p:txBody>
          <a:bodyPr wrap="square" rtlCol="0" anchor="ctr"/>
          <a:lstStyle/>
          <a:p>
            <a:pPr algn="ctr" indent="0" marL="0">
              <a:buNone/>
            </a:pPr>
            <a:r>
              <a:rPr lang="en-US" sz="1200" u="sng" dirty="0">
                <a:solidFill>
                  <a:srgbClr val="2563EB"/>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https://www.loom.com/share/365b963e781e485d90a700709c54147c</a:t>
            </a:r>
            <a:endParaRPr lang="en-US" sz="1200" dirty="0"/>
          </a:p>
        </p:txBody>
      </p:sp>
      <p:sp>
        <p:nvSpPr>
          <p:cNvPr id="6" name="Shape 4"/>
          <p:cNvSpPr/>
          <p:nvPr/>
        </p:nvSpPr>
        <p:spPr>
          <a:xfrm>
            <a:off x="1371600" y="1645920"/>
            <a:ext cx="6400800" cy="1371600"/>
          </a:xfrm>
          <a:prstGeom prst="rect">
            <a:avLst/>
          </a:prstGeom>
          <a:solidFill>
            <a:srgbClr val="F1F5F9"/>
          </a:solidFill>
          <a:ln w="12700">
            <a:solidFill>
              <a:srgbClr val="CBD5E1"/>
            </a:solidFill>
            <a:prstDash val="solid"/>
          </a:ln>
        </p:spPr>
      </p:sp>
      <p:sp>
        <p:nvSpPr>
          <p:cNvPr id="7" name="Text 5"/>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TIPPING POINT</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1 in 6 patients use AI for health today.</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In 24 months, it's everyone.</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The Legacy EHR Trap</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Siloed in hospital systems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30-day waits for answers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Doctors too busy to coordinate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Where patient data goes to die:</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The Active Intelligence Layer</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Patient-owned, portable vault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Instant AI-grounded answers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Care coordinated by the patient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Navis makes data work for you:</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AI is ready</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Models finally understand medical records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Records are portable</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Patients can aggregate their own data</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System is breaking</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Patients won't wait. They're choosing AI.</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bl>
          </a:graphicData>
        </a:graphic>
      </p:graphicFrame>
      <p:sp>
        <p:nvSpPr>
          <p:cNvPr id="7" name="Text 3"/>
          <p:cNvSpPr/>
          <p:nvPr/>
        </p:nvSpPr>
        <p:spPr>
          <a:xfrm>
            <a:off x="457200" y="374904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Navis is the Active Intelligence Layer patients are already seeking.</a:t>
            </a:r>
            <a:endParaRPr lang="en-US" sz="1200" dirty="0"/>
          </a:p>
        </p:txBody>
      </p:sp>
      <p:sp>
        <p:nvSpPr>
          <p:cNvPr id="8" name="Text 4"/>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INSIGHT · USER-INCENTIVE ALIGNMENT</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Portals are Passive. Navis is Proactive.</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Portals serve the system. Generic AI has no context. Navis serves you.</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"For the first time, I felt like the CEO of my own cancer, not a passenger."</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"I use Navis almost daily to sift through all my information."</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"What you've built is critical for patients."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2057400"/>
                <a:gridCol w="2057400"/>
                <a:gridCol w="2057400"/>
                <a:gridCol w="2057400"/>
              </a:tblGrid>
              <a:tr h="0">
                <a:tc>
                  <a:txBody>
                    <a:bodyPr/>
                    <a:lstStyle/>
                    <a:p>
                      <a:pPr indent="0" marL="0">
                        <a:buNone/>
                      </a:pP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B91C1C"/>
                          </a:solidFill>
                          <a:latin typeface="Arial" pitchFamily="34" charset="0"/>
                          <a:ea typeface="Arial" pitchFamily="34" charset="-122"/>
                          <a:cs typeface="Arial" pitchFamily="34" charset="-120"/>
                        </a:rPr>
                        <a:t>📋 MyChart</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C2410C"/>
                          </a:solidFill>
                          <a:latin typeface="Arial" pitchFamily="34" charset="0"/>
                          <a:ea typeface="Arial" pitchFamily="34" charset="-122"/>
                          <a:cs typeface="Arial" pitchFamily="34" charset="-120"/>
                        </a:rPr>
                        <a:t>🤖 ChatGPT</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047857"/>
                          </a:solidFill>
                          <a:latin typeface="Arial" pitchFamily="34" charset="0"/>
                          <a:ea typeface="Arial" pitchFamily="34" charset="-122"/>
                          <a:cs typeface="Arial" pitchFamily="34" charset="-120"/>
                        </a:rPr>
                        <a:t>Navis</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Built for</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Billing</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General use</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DD5"/>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Outcomes</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Mode</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Wait for login</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On-demand chat</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DD5"/>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Proactive AI-push</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Data</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Siloed by hospital</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No records</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DD5"/>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Your full history</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Trust</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Hospital-controlled</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No clinical grounding</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DD5"/>
                    </a:solidFill>
                  </a:tcPr>
                </a:tc>
                <a:tc>
                  <a:txBody>
                    <a:bodyPr/>
                    <a:lstStyle/>
                    <a:p>
                      <a:pPr indent="0" marL="0">
                        <a:buNone/>
                      </a:pPr>
                      <a:r>
                        <a:rPr lang="en-US" sz="900" dirty="0">
                          <a:solidFill>
                            <a:srgbClr val="334155"/>
                          </a:solidFill>
                          <a:latin typeface="Arial" pitchFamily="34" charset="0"/>
                          <a:ea typeface="Arial" pitchFamily="34" charset="-122"/>
                          <a:cs typeface="Arial" pitchFamily="34" charset="-120"/>
                        </a:rPr>
                        <a:t>Patient-Sovereign</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bl>
          </a:graphicData>
        </a:graphic>
      </p:graphicFrame>
      <p:sp>
        <p:nvSpPr>
          <p:cNvPr id="7"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COMPETITIVE LANDSCAPE</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Where Patients Go for Trusted Answers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Patient Portals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Navis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Search / Forums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Generic AI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DD5"/>
                    </a:solidFill>
                  </a:tcPr>
                </a:tc>
              </a:tr>
            </a:tbl>
          </a:graphicData>
        </a:graphic>
      </p:graphicFrame>
      <p:sp>
        <p:nvSpPr>
          <p:cNvPr id="5"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GROWTH ENGINE · MULTIPLAYER</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Cancer Care is Multiplayer.</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Legacy portals are single-player. Navis is the first multiplayer health sanctuary.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The Single-Player Trap:</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Pharma and hospitals treat patients as solo data points. This is why their CAC is $6,500 per patient.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The Multiplayer Reality:</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Cancer care involves 5.4 caregivers per patient. When a patient enters the Sanctuary, they invite their Circle. We don't spend on ads because we solve for the network, not the node.</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274320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2M+</a:t>
            </a:r>
            <a:endParaRPr lang="en-US" sz="1200" dirty="0"/>
          </a:p>
        </p:txBody>
      </p:sp>
      <p:sp>
        <p:nvSpPr>
          <p:cNvPr id="7" name="Text 4"/>
          <p:cNvSpPr/>
          <p:nvPr/>
        </p:nvSpPr>
        <p:spPr>
          <a:xfrm>
            <a:off x="457200" y="329184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You can't add "multiplayer" to a legacy portal any more than you could add multiplayer to a PDF.</a:t>
            </a:r>
            <a:endParaRPr lang="en-US" sz="1200" dirty="0"/>
          </a:p>
        </p:txBody>
      </p:sp>
      <p:sp>
        <p:nvSpPr>
          <p:cNvPr id="8" name="Text 5"/>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ROUTING THESIS · HIGH-FREQUENCY DECISION HUB</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We don't sell data. We route intent.</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A cancer patient makes more $10K+ decisions in 6 months than a healthy person makes in a decade.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Why they can't reach patients: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Cold outreach fails — patients don't trust pharma</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Provider bottleneck — doctors too busy</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No relationship — data ≠ trust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Why Navis routes it: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Trusted relationship — daily usage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Consented intent — opt-in at moment of need</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Higher conversion — warm vs cold</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2057400"/>
                <a:gridCol w="2057400"/>
                <a:gridCol w="2057400"/>
                <a:gridCol w="20574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Labs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per completed test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Trials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per enrolled patient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Specialists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of referral value</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Enterprise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hospital contracts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ext 3"/>
          <p:cNvSpPr/>
          <p:nvPr/>
        </p:nvSpPr>
        <p:spPr>
          <a:xfrm>
            <a:off x="457200" y="374904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We manage the routing of $200B in care decisions.</a:t>
            </a:r>
            <a:endParaRPr lang="en-US" sz="1200" dirty="0"/>
          </a:p>
        </p:txBody>
      </p:sp>
      <p:sp>
        <p:nvSpPr>
          <p:cNvPr id="8" name="Text 4"/>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EARLY TRACTION · TEAM SPORT</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We turned cancer care into a team sport.</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Patients told us they felt like they were fighting a war alone. Now they have their Circle.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1645920"/>
                <a:gridCol w="1645920"/>
                <a:gridCol w="1645920"/>
                <a:gridCol w="1645920"/>
                <a:gridCol w="164592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"I use Navis almost daily to sift through all my information."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Brian K., pancreatic cancer</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200" dirty="0"/>
                    </a:p>
                  </a:txBody>
                  <a:tcPr marL="91440" marR="91440" marT="91440" marB="9144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200" dirty="0"/>
                    </a:p>
                  </a:txBody>
                  <a:tcPr marL="91440" marR="91440" marT="91440" marB="9144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200" dirty="0"/>
                    </a:p>
                  </a:txBody>
                  <a:tcPr marL="91440" marR="91440" marT="91440" marB="9144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STARTUP BUILDERS</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Startup builders who've scaled companies.</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Applying that velocity to medicine. Survivor insight + operational speed.</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1645920"/>
                <a:gridCol w="1645920"/>
                <a:gridCol w="1645920"/>
                <a:gridCol w="1645920"/>
                <a:gridCol w="164592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Ari Akerstein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Co-Founder/CEO</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Ex-Meta PM · Survivor</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Brad Power</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Co-Founder/CTO</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CPL CEO · Survivor</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Chris Apfel, MD/PhD</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Chief Medical Officer</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CEO SageMedic · UCSF MD</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Kaumudi Bhawe, PhD</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Chief Scientific Officer</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Ex-Genentech</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Viktor Tabori</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Head of Growth</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Stanford Health Alum</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Operational Velocity</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Shipped at Meta, Genentech, Stanford</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Survivor Insight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We lived it. We move with urgency.</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Distribution Built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Cancer Patient Lab + advocacy networks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PRIZE · MARKET OPPORTUNITY</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A $200B+ Market. We Own the Patient.</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Bottom-up math that makes the outcome inevitable.</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TAM</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US Oncology Market</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Total addressable spend on cancer care, trials, diagnostics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SAM</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AI-Oncology Software</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Patient navigation, care coordination, AI tools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SOM (Our Target)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ARR at 100K Patients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Bottom-up: 100K × 3 routes/yr × $350 avg</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THIS ROUND PROVES:</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Secure the first 10K Oncology Anchors to prove the 1:5 viral engine—unlocking the path to 100K patients and $1B+ in routed care intent.</a:t>
            </a:r>
            <a:endParaRPr lang="en-US" sz="2800" dirty="0"/>
          </a:p>
        </p:txBody>
      </p:sp>
      <p:sp>
        <p:nvSpPr>
          <p:cNvPr id="4" name="Text 2"/>
          <p:cNvSpPr/>
          <p:nvPr/>
        </p:nvSpPr>
        <p:spPr>
          <a:xfrm>
            <a:off x="457200" y="128016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2M+</a:t>
            </a:r>
            <a:endParaRPr lang="en-US" sz="1200" dirty="0"/>
          </a:p>
        </p:txBody>
      </p:sp>
      <p:sp>
        <p:nvSpPr>
          <p:cNvPr id="5"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Appendix</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Additional context &amp; proof points</a:t>
            </a:r>
            <a:endParaRPr lang="en-US" sz="1400" dirty="0"/>
          </a:p>
        </p:txBody>
      </p:sp>
      <p:sp>
        <p:nvSpPr>
          <p:cNvPr id="4"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COMPETITIVE LANDSCAPE</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Where Patients Go for Trusted Answers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Patient Portals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Navis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Search / Forums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Generic AI Chatbots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DD5"/>
                    </a:solidFill>
                  </a:tcPr>
                </a:tc>
              </a:tr>
            </a:tbl>
          </a:graphicData>
        </a:graphic>
      </p:graphicFrame>
      <p:sp>
        <p:nvSpPr>
          <p:cNvPr id="5"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FEATURE COMPARISON</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Only Navis Covers the Full Patient Journey</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New platform → new category → platform economics</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1645920"/>
                <a:gridCol w="1645920"/>
                <a:gridCol w="1645920"/>
                <a:gridCol w="1645920"/>
                <a:gridCol w="1645920"/>
              </a:tblGrid>
              <a:tr h="0">
                <a:tc>
                  <a:txBody>
                    <a:bodyPr/>
                    <a:lstStyle/>
                    <a:p>
                      <a:pPr indent="0" marL="0">
                        <a:buNone/>
                      </a:pPr>
                      <a:r>
                        <a:rPr lang="en-US" sz="1000" b="1" dirty="0">
                          <a:solidFill>
                            <a:srgbClr val="1E293B"/>
                          </a:solidFill>
                          <a:latin typeface="Arial" pitchFamily="34" charset="0"/>
                          <a:ea typeface="Arial" pitchFamily="34" charset="-122"/>
                          <a:cs typeface="Arial" pitchFamily="34" charset="-120"/>
                        </a:rPr>
                        <a:t>Patient Need</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1E293B"/>
                          </a:solidFill>
                          <a:latin typeface="Arial" pitchFamily="34" charset="0"/>
                          <a:ea typeface="Arial" pitchFamily="34" charset="-122"/>
                          <a:cs typeface="Arial" pitchFamily="34" charset="-120"/>
                        </a:rPr>
                        <a:t>Top CancerCenters (COEs)</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1E293B"/>
                          </a:solidFill>
                          <a:latin typeface="Arial" pitchFamily="34" charset="0"/>
                          <a:ea typeface="Arial" pitchFamily="34" charset="-122"/>
                          <a:cs typeface="Arial" pitchFamily="34" charset="-120"/>
                        </a:rPr>
                        <a:t>MyChart/Epic</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1E293B"/>
                          </a:solidFill>
                          <a:latin typeface="Arial" pitchFamily="34" charset="0"/>
                          <a:ea typeface="Arial" pitchFamily="34" charset="-122"/>
                          <a:cs typeface="Arial" pitchFamily="34" charset="-120"/>
                        </a:rPr>
                        <a:t>ChatGPT/Google</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047857"/>
                          </a:solidFill>
                          <a:latin typeface="Arial" pitchFamily="34" charset="0"/>
                          <a:ea typeface="Arial" pitchFamily="34" charset="-122"/>
                          <a:cs typeface="Arial" pitchFamily="34" charset="-120"/>
                        </a:rPr>
                        <a:t>Navis</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Records (patient-owned vault)</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Guidance (evidence-grounded next steps)</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Care coordination (share + act)</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Support (caregivers + community)</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Services (routing/marketplace)</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SOCIAL PROOF</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Patients Trust Navis</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Real feedback from cancer patients and advocates</a:t>
            </a:r>
            <a:endParaRPr lang="en-US" sz="1400" dirty="0"/>
          </a:p>
        </p:txBody>
      </p:sp>
      <p:sp>
        <p:nvSpPr>
          <p:cNvPr id="5" name="Text 3"/>
          <p:cNvSpPr/>
          <p:nvPr/>
        </p:nvSpPr>
        <p:spPr>
          <a:xfrm>
            <a:off x="457200" y="173736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"YES YES YES!!!! From this day forward when someone wants to send me their records, I'm going to point them to navis, ask them to upload there and then invite me to their team."</a:t>
            </a:r>
            <a:endParaRPr lang="en-US" sz="1200" dirty="0"/>
          </a:p>
        </p:txBody>
      </p:sp>
      <p:sp>
        <p:nvSpPr>
          <p:cNvPr id="6" name="Text 4"/>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PRODUCT DEMO</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Live Today, Already in Patients' Hands</a:t>
            </a:r>
            <a:endParaRPr lang="en-US" sz="2800" dirty="0"/>
          </a:p>
        </p:txBody>
      </p:sp>
      <p:sp>
        <p:nvSpPr>
          <p:cNvPr id="4" name="Text 2"/>
          <p:cNvSpPr/>
          <p:nvPr/>
        </p:nvSpPr>
        <p:spPr>
          <a:xfrm>
            <a:off x="1371600" y="1828800"/>
            <a:ext cx="6400800" cy="457200"/>
          </a:xfrm>
          <a:prstGeom prst="rect">
            <a:avLst/>
          </a:prstGeom>
          <a:noFill/>
          <a:ln/>
        </p:spPr>
        <p:txBody>
          <a:bodyPr wrap="square" rtlCol="0" anchor="ctr"/>
          <a:lstStyle/>
          <a:p>
            <a:pPr algn="ctr" indent="0" marL="0">
              <a:buNone/>
            </a:pPr>
            <a:r>
              <a:rPr lang="en-US" sz="2000" b="1" dirty="0">
                <a:solidFill>
                  <a:srgbClr val="334155"/>
                </a:solidFill>
                <a:latin typeface="Arial" pitchFamily="34" charset="0"/>
                <a:ea typeface="Arial" pitchFamily="34" charset="-122"/>
                <a:cs typeface="Arial" pitchFamily="34" charset="-120"/>
              </a:rPr>
              <a:t>📹 VIDEO DEMO</a:t>
            </a:r>
            <a:endParaRPr lang="en-US" sz="2000" dirty="0"/>
          </a:p>
        </p:txBody>
      </p:sp>
      <p:sp>
        <p:nvSpPr>
          <p:cNvPr id="5" name="Text 3">
            <a:hlinkClick r:id="rId1" tooltip=""/>
          </p:cNvPr>
          <p:cNvSpPr/>
          <p:nvPr/>
        </p:nvSpPr>
        <p:spPr>
          <a:xfrm>
            <a:off x="1371600" y="2377440"/>
            <a:ext cx="6400800" cy="365760"/>
          </a:xfrm>
          <a:prstGeom prst="rect">
            <a:avLst/>
          </a:prstGeom>
          <a:noFill/>
          <a:ln/>
        </p:spPr>
        <p:txBody>
          <a:bodyPr wrap="square" rtlCol="0" anchor="ctr"/>
          <a:lstStyle/>
          <a:p>
            <a:pPr algn="ctr" indent="0" marL="0">
              <a:buNone/>
            </a:pPr>
            <a:r>
              <a:rPr lang="en-US" sz="1200" u="sng" dirty="0">
                <a:solidFill>
                  <a:srgbClr val="2563EB"/>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https://www.loom.com/share/365b963e781e485d90a700709c54147c</a:t>
            </a:r>
            <a:endParaRPr lang="en-US" sz="1200" dirty="0"/>
          </a:p>
        </p:txBody>
      </p:sp>
      <p:sp>
        <p:nvSpPr>
          <p:cNvPr id="6" name="Shape 4"/>
          <p:cNvSpPr/>
          <p:nvPr/>
        </p:nvSpPr>
        <p:spPr>
          <a:xfrm>
            <a:off x="1371600" y="1645920"/>
            <a:ext cx="6400800" cy="1371600"/>
          </a:xfrm>
          <a:prstGeom prst="rect">
            <a:avLst/>
          </a:prstGeom>
          <a:solidFill>
            <a:srgbClr val="F1F5F9"/>
          </a:solidFill>
          <a:ln w="12700">
            <a:solidFill>
              <a:srgbClr val="CBD5E1"/>
            </a:solidFill>
            <a:prstDash val="solid"/>
          </a:ln>
        </p:spPr>
      </p:sp>
      <p:sp>
        <p:nvSpPr>
          <p:cNvPr id="7" name="Text 5"/>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1 in 6 Patients Use AI for Medical Questions Monthly</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Access is breaking down. Patients are finding alternatives.</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114800"/>
                <a:gridCol w="4114800"/>
              </a:tblGrid>
              <a:tr h="0">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77%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57200" y="237744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77%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68%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45%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21%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bl>
          </a:graphicData>
        </a:graphic>
      </p:graphicFrame>
      <p:sp>
        <p:nvSpPr>
          <p:cNvPr id="6"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Trusted Application Platform</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Model-Agnostic &amp; Clinically Verified</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Dynamic Orchestration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Proprietary Evals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Clinical Grounding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57200" y="2377440"/>
          <a:ext cx="8229600" cy="914400"/>
        </p:xfrm>
        <a:graphic>
          <a:graphicData uri="http://schemas.openxmlformats.org/drawingml/2006/table">
            <a:tbl>
              <a:tblPr/>
              <a:tblGrid>
                <a:gridCol w="4114800"/>
                <a:gridCol w="4114800"/>
              </a:tblGrid>
              <a:tr h="0">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bl>
          </a:graphicData>
        </a:graphic>
      </p:graphicFrame>
      <p:sp>
        <p:nvSpPr>
          <p:cNvPr id="6"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GO-TO-MARKET</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Our GTM: Fast Path to $1M+ ARR</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GTM Milestones | Early Signals</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GTM Milestones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1</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Prove Patient Value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10K-15K registered, 5K+ MAU</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1</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2</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Prove Adoption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50K+ patient access via partners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2</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3</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Prove Partner Value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5-7 revenue-linked partners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 $1M+ ARR line of sight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3</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60%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274320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Real Patient Love</a:t>
            </a:r>
            <a:endParaRPr lang="en-US" sz="1200" dirty="0"/>
          </a:p>
        </p:txBody>
      </p:sp>
      <p:sp>
        <p:nvSpPr>
          <p:cNvPr id="7" name="Text 4"/>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GTM TACTICAL</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Acquire trust. Earn habit. Route intent.</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Free to start. Remove friction. Partners pay for qualified, consented referrals.</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1. Acquire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Advocacy communities (trusted)</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Caregiver sharing (3-5 per patient)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Free to start (remove friction)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Organic, viral loops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BEAFE"/>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2. Engage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AI companion (always available)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Records vault (system of record)</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Care coordination (family sharing)</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Daily habit, high retention</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3. Monetize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Qualified, consented referrals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Trial enrollment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Care navigation partnerships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Validated in pilots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TEAM PHOTO</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We've built companies before.</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Full-time. Survivor-led. Ready to execute.</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Built products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Shipped at scale. Know what works.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BEAFE"/>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Survivor insight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Lived experience. Real urgency.</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Distribution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Deep in advocacy networks.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Navis Health - Investor Deck (10-Year Vision)</dc:title>
  <dc:subject>PptxGenJS Presentation</dc:subject>
  <dc:creator>Navis Health</dc:creator>
  <cp:lastModifiedBy>Navis Health</cp:lastModifiedBy>
  <cp:revision>1</cp:revision>
  <dcterms:created xsi:type="dcterms:W3CDTF">2026-01-02T19:51:27Z</dcterms:created>
  <dcterms:modified xsi:type="dcterms:W3CDTF">2026-01-02T19:51:27Z</dcterms:modified>
</cp:coreProperties>
</file>